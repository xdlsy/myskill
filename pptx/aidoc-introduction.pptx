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  <p:sldId id="268" r:id="rId15"/>
    <p:sldId id="269" r:id="rId16"/>
    <p:sldId id="272" r:id="rId22"/>
    <p:sldId id="270" r:id="rId17"/>
    <p:sldId id="271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22" Type="http://schemas.openxmlformats.org/officeDocument/2006/relationships/slide" Target="slides/slide16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?>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1.xml.rels><?xml version="1.0" encoding="UTF-8"?>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2.xml.rels><?xml version="1.0" encoding="UTF-8"?>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14.xml.rels><?xml version="1.0" encoding="UTF-8"?>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91440"/>
            <a:ext cx="1828800" cy="1828800"/>
          </a:xfrm>
          <a:prstGeom prst="rect">
            <a:avLst/>
          </a:prstGeom>
          <a:solidFill>
            <a:srgbClr val="0EA5E9">
              <a:alpha val="1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7589520" y="320040"/>
            <a:ext cx="1371600" cy="1371600"/>
          </a:xfrm>
          <a:prstGeom prst="rect">
            <a:avLst/>
          </a:prstGeom>
          <a:solidFill>
            <a:srgbClr val="14B8A6">
              <a:alpha val="2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182880" y="4023360"/>
            <a:ext cx="1097280" cy="1097280"/>
          </a:xfrm>
          <a:prstGeom prst="rect">
            <a:avLst/>
          </a:prstGeom>
          <a:solidFill>
            <a:srgbClr val="0284C7">
              <a:alpha val="12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1097280" y="1097280"/>
            <a:ext cx="69494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aidoc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1097280" y="2103120"/>
            <a:ext cx="6949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EA5E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智能文档体系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097280" y="3017520"/>
            <a:ext cx="1371600" cy="5486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8" name="Text 6"/>
          <p:cNvSpPr/>
          <p:nvPr/>
        </p:nvSpPr>
        <p:spPr>
          <a:xfrm>
            <a:off x="1097280" y="329184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驱动的代码仓文档化 · Progressive Disclosure &amp; JIT Retrieval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4206240"/>
            <a:ext cx="2194560" cy="457200"/>
          </a:xfrm>
          <a:prstGeom prst="rect">
            <a:avLst/>
          </a:prstGeom>
          <a:solidFill>
            <a:srgbClr val="0EA5E9">
              <a:alpha val="2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1097280" y="420624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个技能  ·  5 层知识架构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什么是 aidoc？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 AI 编码助手的代码仓文档化方案。核心理念来自 Anthropic 2025 上下文工程研究：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Progressive Disclosure 将存量代码转化为 AI 可消费的结构化知识，而非把所有信息塞进上下文窗口。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468880" cy="2194560"/>
          </a:xfrm>
          <a:prstGeom prst="rect">
            <a:avLst/>
          </a:prstGeom>
          <a:solidFill>
            <a:srgbClr val="0EA5E9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0" y="2103120"/>
            <a:ext cx="640080" cy="640080"/>
          </a:xfrm>
          <a:prstGeom prst="rect">
            <a:avLst/>
          </a:prstGeom>
          <a:solidFill>
            <a:srgbClr val="FFFFFF">
              <a:alpha val="15000"/>
            </a:srgbClr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4792" y="21762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803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结构化文档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246120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自动生成 AGENTS.md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ARCHITECTURE.md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代码地图与模块说明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（matklad 三段式范式）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29000" y="1828800"/>
            <a:ext cx="2468880" cy="2194560"/>
          </a:xfrm>
          <a:prstGeom prst="rect">
            <a:avLst/>
          </a:prstGeom>
          <a:solidFill>
            <a:srgbClr val="14B8A6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2103120"/>
            <a:ext cx="640080" cy="640080"/>
          </a:xfrm>
          <a:prstGeom prst="rect">
            <a:avLst/>
          </a:prstGeom>
          <a:solidFill>
            <a:srgbClr val="FFFFFF">
              <a:alpha val="15000"/>
            </a:srgbClr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21762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8803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知识管理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11880" y="3246120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决策记录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经验库持续积累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跨模块知识图谱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（五层知识架构 L0-L4）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1828800"/>
            <a:ext cx="2468880" cy="2194560"/>
          </a:xfrm>
          <a:prstGeom prst="rect">
            <a:avLst/>
          </a:prstGeom>
          <a:solidFill>
            <a:srgbClr val="8B5CF6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40880" y="2103120"/>
            <a:ext cx="640080" cy="640080"/>
          </a:xfrm>
          <a:prstGeom prst="rect">
            <a:avLst/>
          </a:prstGeom>
          <a:solidFill>
            <a:srgbClr val="FFFFFF">
              <a:alpha val="15000"/>
            </a:srgbClr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21762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8803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原生适配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09360" y="3246120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规则加载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路径作用域智能注入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自动触发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（Anthropic 四层加载模型）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731520" y="4389120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理论基础：Anthropic Effective Context Engineering (2025)  ·  Vercel AGENTS.md evals (2026)  ·  Princeton AI Docs 研究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核心设计原理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来自 Anthropic、Vercel、Princeton 等研究的方法论基础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0" y="182880"/>
            <a:ext cx="777240" cy="777240"/>
          </a:xfrm>
          <a:prstGeom prst="rect">
            <a:avLst/>
          </a:prstGeom>
          <a:solidFill>
            <a:srgbClr val="8B5CF6">
              <a:alpha val="12000"/>
            </a:srgbClr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74320"/>
            <a:ext cx="59436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371600"/>
            <a:ext cx="7772400" cy="1051560"/>
          </a:xfrm>
          <a:prstGeom prst="rect">
            <a:avLst/>
          </a:prstGeom>
          <a:solidFill>
            <a:srgbClr val="F8FAFC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1371600"/>
            <a:ext cx="54864" cy="1051560"/>
          </a:xfrm>
          <a:prstGeom prst="rect">
            <a:avLst/>
          </a:prstGeom>
          <a:solidFill>
            <a:srgbClr val="0EA5E9"/>
          </a:solidFill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144475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Disclosure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371600" y="1682496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渐进式披露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371600" y="1901952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不把所有信息塞进上下文窗口。agent 持有轻量标识符（路径、查询、URL），在运行时按需获取数据。入口文件 ≤200 行，详细文档由指针引导读取。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315200" y="1444752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Anthropic, 2025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640080" y="2560320"/>
            <a:ext cx="7772400" cy="1051560"/>
          </a:xfrm>
          <a:prstGeom prst="rect">
            <a:avLst/>
          </a:prstGeom>
          <a:solidFill>
            <a:srgbClr val="F8FAFC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2560320"/>
            <a:ext cx="54864" cy="1051560"/>
          </a:xfrm>
          <a:prstGeom prst="rect">
            <a:avLst/>
          </a:prstGeom>
          <a:solidFill>
            <a:srgbClr val="14B8A6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432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263347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Just-in-Time Retrieval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71600" y="2871216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即时检索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371600" y="3090672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混合模式：CLAUDE.md 预先加载 + glob/grep 原语按需导航。用 Grep 找符号、Glob 找路径、Read 确认，比预加载高效 10 倍。避免 n² attention 导致的 context rot。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7315200" y="2633472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Context Engineering</a:t>
            </a:r>
            <a:endParaRPr lang="en-US" sz="750" dirty="0"/>
          </a:p>
        </p:txBody>
      </p:sp>
      <p:sp>
        <p:nvSpPr>
          <p:cNvPr id="21" name="Shape 16"/>
          <p:cNvSpPr/>
          <p:nvPr/>
        </p:nvSpPr>
        <p:spPr>
          <a:xfrm>
            <a:off x="640080" y="3749040"/>
            <a:ext cx="7772400" cy="1051560"/>
          </a:xfrm>
          <a:prstGeom prst="rect">
            <a:avLst/>
          </a:prstGeom>
          <a:solidFill>
            <a:srgbClr val="F8FAFC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0080" y="3749040"/>
            <a:ext cx="54864" cy="1051560"/>
          </a:xfrm>
          <a:prstGeom prst="rect">
            <a:avLst/>
          </a:prstGeom>
          <a:solidFill>
            <a:srgbClr val="F59E0B"/>
          </a:solidFill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93192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71600" y="382219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over Copy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371600" y="4059936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指针优于副本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371600" y="4279392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入口文件只放路径引用和一句话说明，不复制详细内容。@-import 语法支持 5 跳递归。what/where 自动生成，why/when 手写。CLAUDE.md 只用一行 @AGENTS.md。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7315200" y="3822192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HumanLayer / Julep-AI 实践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91440"/>
            <a:ext cx="1828800" cy="1828800"/>
          </a:xfrm>
          <a:prstGeom prst="rect">
            <a:avLst/>
          </a:prstGeom>
          <a:solidFill>
            <a:srgbClr val="0EA5E9">
              <a:alpha val="1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7589520" y="320040"/>
            <a:ext cx="1371600" cy="1371600"/>
          </a:xfrm>
          <a:prstGeom prst="rect">
            <a:avLst/>
          </a:prstGeom>
          <a:solidFill>
            <a:srgbClr val="14B8A6">
              <a:alpha val="2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182880" y="4023360"/>
            <a:ext cx="1097280" cy="1097280"/>
          </a:xfrm>
          <a:prstGeom prst="rect">
            <a:avLst/>
          </a:prstGeom>
          <a:solidFill>
            <a:srgbClr val="0284C7">
              <a:alpha val="12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五层知识架构 (L0–L4)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业界 2025-2026 共识模型 — 从热记忆到知识图谱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7680960" cy="566928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8" name="Shape 6"/>
          <p:cNvSpPr/>
          <p:nvPr/>
        </p:nvSpPr>
        <p:spPr>
          <a:xfrm>
            <a:off x="731520" y="1417320"/>
            <a:ext cx="54864" cy="566928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9" name="Text 7"/>
          <p:cNvSpPr/>
          <p:nvPr/>
        </p:nvSpPr>
        <p:spPr>
          <a:xfrm>
            <a:off x="868680" y="1417320"/>
            <a:ext cx="411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5E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453896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热记忆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1453896"/>
            <a:ext cx="5394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 / CLAUDE.md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325880" y="1709928"/>
            <a:ext cx="6766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始终加载，≤200行。基本规则和入口索引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463040" y="2112264"/>
            <a:ext cx="6217920" cy="566928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4" name="Shape 12"/>
          <p:cNvSpPr/>
          <p:nvPr/>
        </p:nvSpPr>
        <p:spPr>
          <a:xfrm>
            <a:off x="1463040" y="2112264"/>
            <a:ext cx="54864" cy="566928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15" name="Text 13"/>
          <p:cNvSpPr/>
          <p:nvPr/>
        </p:nvSpPr>
        <p:spPr>
          <a:xfrm>
            <a:off x="1600200" y="2112264"/>
            <a:ext cx="411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057400" y="214884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领域能力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2148840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skills/*/SKILL.md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57400" y="2404872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按需触发，&lt;2000 tokens。可复用的专家工作流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94560" y="2807208"/>
            <a:ext cx="4754880" cy="566928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0" name="Shape 18"/>
          <p:cNvSpPr/>
          <p:nvPr/>
        </p:nvSpPr>
        <p:spPr>
          <a:xfrm>
            <a:off x="2194560" y="2807208"/>
            <a:ext cx="54864" cy="56692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1" name="Text 19"/>
          <p:cNvSpPr/>
          <p:nvPr/>
        </p:nvSpPr>
        <p:spPr>
          <a:xfrm>
            <a:off x="2331720" y="2807208"/>
            <a:ext cx="411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788920" y="2843784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决策记录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023360" y="2843784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docs/knowledge/decisions/NNNN-title.md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88920" y="3099816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按需检索，MADR 格式。为什么做这个选择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26080" y="3502152"/>
            <a:ext cx="3291840" cy="566928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6" name="Shape 24"/>
          <p:cNvSpPr/>
          <p:nvPr/>
        </p:nvSpPr>
        <p:spPr>
          <a:xfrm>
            <a:off x="2926080" y="3502152"/>
            <a:ext cx="54864" cy="566928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7" name="Text 25"/>
          <p:cNvSpPr/>
          <p:nvPr/>
        </p:nvSpPr>
        <p:spPr>
          <a:xfrm>
            <a:off x="3063240" y="3502152"/>
            <a:ext cx="411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520440" y="3538728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经验库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54880" y="3538728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learnings/*.md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520440" y="3794760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索引引导检索。踩过的坑、调过的参数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0" y="4197096"/>
            <a:ext cx="1828800" cy="566928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2" name="Shape 30"/>
          <p:cNvSpPr/>
          <p:nvPr/>
        </p:nvSpPr>
        <p:spPr>
          <a:xfrm>
            <a:off x="3657600" y="4197096"/>
            <a:ext cx="54864" cy="566928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33" name="Text 31"/>
          <p:cNvSpPr/>
          <p:nvPr/>
        </p:nvSpPr>
        <p:spPr>
          <a:xfrm>
            <a:off x="3794760" y="4197096"/>
            <a:ext cx="411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251960" y="423367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知识图谱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0" y="423367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knowledge/AGENTS.md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251960" y="448970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 C4 + 模块蓝图 + 流程时序 + ADR 决策。结构化可视化知识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" y="4617720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关键发现 (Vercel, 2026)：被动上下文（L0 直接注入）始终优于按需检索 — Agent 不检索率高达 56%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91440"/>
            <a:ext cx="1828800" cy="1828800"/>
          </a:xfrm>
          <a:prstGeom prst="rect">
            <a:avLst/>
          </a:prstGeom>
          <a:solidFill>
            <a:srgbClr val="0EA5E9">
              <a:alpha val="1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7589520" y="320040"/>
            <a:ext cx="1371600" cy="1371600"/>
          </a:xfrm>
          <a:prstGeom prst="rect">
            <a:avLst/>
          </a:prstGeom>
          <a:solidFill>
            <a:srgbClr val="14B8A6">
              <a:alpha val="2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182880" y="4023360"/>
            <a:ext cx="1097280" cy="1097280"/>
          </a:xfrm>
          <a:prstGeom prst="rect">
            <a:avLst/>
          </a:prstGeom>
          <a:solidFill>
            <a:srgbClr val="0284C7">
              <a:alpha val="12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工作流全景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阶段渐进式文档合成管线 — 每阶段确认后推进，不跳步不覆盖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1554480" cy="14630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8" name="Shape 6"/>
          <p:cNvSpPr/>
          <p:nvPr/>
        </p:nvSpPr>
        <p:spPr>
          <a:xfrm>
            <a:off x="411480" y="1600200"/>
            <a:ext cx="1554480" cy="54864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9" name="Text 7"/>
          <p:cNvSpPr/>
          <p:nvPr/>
        </p:nvSpPr>
        <p:spPr>
          <a:xfrm>
            <a:off x="411480" y="173736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EA5E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02920" y="224028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代码仓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repo-explore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984248" y="2011680"/>
            <a:ext cx="1097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103120" y="1600200"/>
            <a:ext cx="1554480" cy="14630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4" name="Shape 12"/>
          <p:cNvSpPr/>
          <p:nvPr/>
        </p:nvSpPr>
        <p:spPr>
          <a:xfrm>
            <a:off x="2103120" y="1600200"/>
            <a:ext cx="1554480" cy="5486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15" name="Text 13"/>
          <p:cNvSpPr/>
          <p:nvPr/>
        </p:nvSpPr>
        <p:spPr>
          <a:xfrm>
            <a:off x="2103120" y="173736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B8A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194560" y="224028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根目录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48840" y="274320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repo-init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75888" y="2011680"/>
            <a:ext cx="1097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794760" y="1600200"/>
            <a:ext cx="1554480" cy="14630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0" name="Shape 18"/>
          <p:cNvSpPr/>
          <p:nvPr/>
        </p:nvSpPr>
        <p:spPr>
          <a:xfrm>
            <a:off x="3794760" y="1600200"/>
            <a:ext cx="1554480" cy="54864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21" name="Text 19"/>
          <p:cNvSpPr/>
          <p:nvPr/>
        </p:nvSpPr>
        <p:spPr>
          <a:xfrm>
            <a:off x="3794760" y="173736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B5C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3886200" y="224028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0" y="274320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module-init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367528" y="2011680"/>
            <a:ext cx="1097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▸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0" y="1600200"/>
            <a:ext cx="1554480" cy="14630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6" name="Shape 24"/>
          <p:cNvSpPr/>
          <p:nvPr/>
        </p:nvSpPr>
        <p:spPr>
          <a:xfrm>
            <a:off x="5486400" y="1600200"/>
            <a:ext cx="155448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7" name="Text 25"/>
          <p:cNvSpPr/>
          <p:nvPr/>
        </p:nvSpPr>
        <p:spPr>
          <a:xfrm>
            <a:off x="5486400" y="173736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3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5577840" y="224028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32120" y="274320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059168" y="2011680"/>
            <a:ext cx="1097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▸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178040" y="1600200"/>
            <a:ext cx="1554480" cy="14630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2" name="Shape 30"/>
          <p:cNvSpPr/>
          <p:nvPr/>
        </p:nvSpPr>
        <p:spPr>
          <a:xfrm>
            <a:off x="7178040" y="1600200"/>
            <a:ext cx="155448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3" name="Text 31"/>
          <p:cNvSpPr/>
          <p:nvPr/>
        </p:nvSpPr>
        <p:spPr>
          <a:xfrm>
            <a:off x="7178040" y="173736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4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7269480" y="224028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223760" y="274320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knowledge-init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11480" y="3337560"/>
            <a:ext cx="3200400" cy="59436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7" name="Shape 35"/>
          <p:cNvSpPr/>
          <p:nvPr/>
        </p:nvSpPr>
        <p:spPr>
          <a:xfrm>
            <a:off x="411480" y="3337560"/>
            <a:ext cx="54864" cy="594360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38" name="Text 36"/>
          <p:cNvSpPr/>
          <p:nvPr/>
        </p:nvSpPr>
        <p:spPr>
          <a:xfrm>
            <a:off x="640080" y="3337560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aidoc-adapt-claude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0080" y="3630168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原生适配 | @-import 加载链 | Hook 注册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840480" y="3337560"/>
            <a:ext cx="2194560" cy="59436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41" name="Shape 39"/>
          <p:cNvSpPr/>
          <p:nvPr/>
        </p:nvSpPr>
        <p:spPr>
          <a:xfrm>
            <a:off x="3840480" y="3337560"/>
            <a:ext cx="54864" cy="5943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2" name="Text 40"/>
          <p:cNvSpPr/>
          <p:nvPr/>
        </p:nvSpPr>
        <p:spPr>
          <a:xfrm>
            <a:off x="4023360" y="338328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aidoc-create-adr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023360" y="363931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架构决策记录（MADR 格式）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72200" y="3337560"/>
            <a:ext cx="2194560" cy="59436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45" name="Shape 43"/>
          <p:cNvSpPr/>
          <p:nvPr/>
        </p:nvSpPr>
        <p:spPr>
          <a:xfrm>
            <a:off x="6172200" y="3337560"/>
            <a:ext cx="54864" cy="5943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6" name="Text 44"/>
          <p:cNvSpPr/>
          <p:nvPr/>
        </p:nvSpPr>
        <p:spPr>
          <a:xfrm>
            <a:off x="6355080" y="338328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aidoc-learning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355080" y="363931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经验捕获与技能升级（L3 持续积累）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286000" y="4206240"/>
            <a:ext cx="4572000" cy="502920"/>
          </a:xfrm>
          <a:prstGeom prst="rect">
            <a:avLst/>
          </a:prstGeom>
          <a:solidFill>
            <a:srgbClr val="0EA5E9">
              <a:alpha val="15000"/>
            </a:srgbClr>
          </a:solidFill>
        </p:spPr>
      </p:sp>
      <p:sp>
        <p:nvSpPr>
          <p:cNvPr id="49" name="Text 47"/>
          <p:cNvSpPr/>
          <p:nvPr/>
        </p:nvSpPr>
        <p:spPr>
          <a:xfrm>
            <a:off x="2286000" y="4206240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aidoc-build — 主流程编排器，一键串联 Phase 0–6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Phase 0: aidoc-repo-explore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代码仓探索与画像采集 — L0 层数据基础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0" y="182880"/>
            <a:ext cx="777240" cy="777240"/>
          </a:xfrm>
          <a:prstGeom prst="rect">
            <a:avLst/>
          </a:prstGeom>
          <a:solidFill>
            <a:srgbClr val="0EA5E9">
              <a:alpha val="12000"/>
            </a:srgbClr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7432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18872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自主探索代码仓，采集规模、语言、模块、构建、测试、CI/CD。自动生成的画像数据作为全流程单一数据源。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2697480" cy="5943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9" name="Shape 6"/>
          <p:cNvSpPr/>
          <p:nvPr/>
        </p:nvSpPr>
        <p:spPr>
          <a:xfrm>
            <a:off x="640080" y="1691640"/>
            <a:ext cx="45720" cy="594360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10" name="Text 7"/>
          <p:cNvSpPr/>
          <p:nvPr/>
        </p:nvSpPr>
        <p:spPr>
          <a:xfrm>
            <a:off x="777240" y="174650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代码规模统计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198424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tokei/cloc 统计各语言行数、文件数、占比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93008" y="1691640"/>
            <a:ext cx="2697480" cy="5943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3" name="Shape 10"/>
          <p:cNvSpPr/>
          <p:nvPr/>
        </p:nvSpPr>
        <p:spPr>
          <a:xfrm>
            <a:off x="3493008" y="1691640"/>
            <a:ext cx="45720" cy="594360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14" name="Text 11"/>
          <p:cNvSpPr/>
          <p:nvPr/>
        </p:nvSpPr>
        <p:spPr>
          <a:xfrm>
            <a:off x="3630168" y="174650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模块结构分析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30168" y="198424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识别根模块与叶子模块，判定 service/library/adapter 类型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345936" y="1691640"/>
            <a:ext cx="2697480" cy="5943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7" name="Shape 14"/>
          <p:cNvSpPr/>
          <p:nvPr/>
        </p:nvSpPr>
        <p:spPr>
          <a:xfrm>
            <a:off x="6345936" y="1691640"/>
            <a:ext cx="45720" cy="594360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18" name="Text 15"/>
          <p:cNvSpPr/>
          <p:nvPr/>
        </p:nvSpPr>
        <p:spPr>
          <a:xfrm>
            <a:off x="6483096" y="174650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构建系统检测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83096" y="198424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扫描 pom.xml/go.mod/package.json，推断构建命令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751076" y="2395728"/>
            <a:ext cx="2697480" cy="5943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1" name="Shape 18"/>
          <p:cNvSpPr/>
          <p:nvPr/>
        </p:nvSpPr>
        <p:spPr>
          <a:xfrm>
            <a:off x="1751076" y="2395728"/>
            <a:ext cx="45720" cy="594360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22" name="Text 19"/>
          <p:cNvSpPr/>
          <p:nvPr/>
        </p:nvSpPr>
        <p:spPr>
          <a:xfrm>
            <a:off x="1888236" y="24505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测试框架识别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888236" y="268833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 JUnit/pytest/jest 等框架和测试目录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604004" y="2395728"/>
            <a:ext cx="2697480" cy="5943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5" name="Shape 22"/>
          <p:cNvSpPr/>
          <p:nvPr/>
        </p:nvSpPr>
        <p:spPr>
          <a:xfrm>
            <a:off x="4604004" y="2395728"/>
            <a:ext cx="45720" cy="594360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26" name="Text 23"/>
          <p:cNvSpPr/>
          <p:nvPr/>
        </p:nvSpPr>
        <p:spPr>
          <a:xfrm>
            <a:off x="4741164" y="24505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与规范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741164" y="268833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 GitHub Actions/GitLab CI，分析 commit 规范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40080" y="4297680"/>
            <a:ext cx="7772400" cy="41148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9" name="Text 26"/>
          <p:cNvSpPr/>
          <p:nvPr/>
        </p:nvSpPr>
        <p:spPr>
          <a:xfrm>
            <a:off x="777240" y="4297680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.aidoc/phase0/repo-profile.md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Phase 1: aidoc-repo-init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根目录 AGENTS.md 生成 — L0 热记忆层（≤150 行）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0" y="182880"/>
            <a:ext cx="777240" cy="777240"/>
          </a:xfrm>
          <a:prstGeom prst="rect">
            <a:avLst/>
          </a:prstGeom>
          <a:solidFill>
            <a:srgbClr val="14B8A6">
              <a:alpha val="12000"/>
            </a:srgbClr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7432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18872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基于画像数据生成根 AGENTS.md。遵循 Anthropic ≤200 行约束和信息密度排序（Quickstart 30% &gt; Repo Layout 25% &gt; How to Change 15% &gt; ...）。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2697480" cy="5943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9" name="Shape 6"/>
          <p:cNvSpPr/>
          <p:nvPr/>
        </p:nvSpPr>
        <p:spPr>
          <a:xfrm>
            <a:off x="640080" y="1691640"/>
            <a:ext cx="45720" cy="59436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10" name="Text 7"/>
          <p:cNvSpPr/>
          <p:nvPr/>
        </p:nvSpPr>
        <p:spPr>
          <a:xfrm>
            <a:off x="777240" y="174650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项目概览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198424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README + 画像数据提取定位（30% 篇幅）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93008" y="1691640"/>
            <a:ext cx="2697480" cy="5943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3" name="Shape 10"/>
          <p:cNvSpPr/>
          <p:nvPr/>
        </p:nvSpPr>
        <p:spPr>
          <a:xfrm>
            <a:off x="3493008" y="1691640"/>
            <a:ext cx="45720" cy="59436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14" name="Text 11"/>
          <p:cNvSpPr/>
          <p:nvPr/>
        </p:nvSpPr>
        <p:spPr>
          <a:xfrm>
            <a:off x="3630168" y="174650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构建与测试命令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30168" y="198424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自动采集构建/测试命令（25% 篇幅，最高优先级）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345936" y="1691640"/>
            <a:ext cx="2697480" cy="5943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7" name="Shape 14"/>
          <p:cNvSpPr/>
          <p:nvPr/>
        </p:nvSpPr>
        <p:spPr>
          <a:xfrm>
            <a:off x="6345936" y="1691640"/>
            <a:ext cx="45720" cy="59436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18" name="Text 15"/>
          <p:cNvSpPr/>
          <p:nvPr/>
        </p:nvSpPr>
        <p:spPr>
          <a:xfrm>
            <a:off x="6483096" y="174650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代码风格指南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83096" y="198424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 lint/formatter 配置（15% 篇幅）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751076" y="2395728"/>
            <a:ext cx="2697480" cy="5943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1" name="Shape 18"/>
          <p:cNvSpPr/>
          <p:nvPr/>
        </p:nvSpPr>
        <p:spPr>
          <a:xfrm>
            <a:off x="1751076" y="2395728"/>
            <a:ext cx="45720" cy="59436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22" name="Text 19"/>
          <p:cNvSpPr/>
          <p:nvPr/>
        </p:nvSpPr>
        <p:spPr>
          <a:xfrm>
            <a:off x="1888236" y="24505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仓库结构图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888236" y="268833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目录树 + 模块依赖关系（15% 篇幅）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604004" y="2395728"/>
            <a:ext cx="2697480" cy="5943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5" name="Shape 22"/>
          <p:cNvSpPr/>
          <p:nvPr/>
        </p:nvSpPr>
        <p:spPr>
          <a:xfrm>
            <a:off x="4604004" y="2395728"/>
            <a:ext cx="45720" cy="59436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26" name="Text 23"/>
          <p:cNvSpPr/>
          <p:nvPr/>
        </p:nvSpPr>
        <p:spPr>
          <a:xfrm>
            <a:off x="4741164" y="24505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注意事项/坑点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741164" y="268833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自动检测约束 + HUMAN_REVIEW 占位（10% 篇幅）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40080" y="4297680"/>
            <a:ext cx="7772400" cy="41148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9" name="Text 26"/>
          <p:cNvSpPr/>
          <p:nvPr/>
        </p:nvSpPr>
        <p:spPr>
          <a:xfrm>
            <a:off x="777240" y="4297680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AGENTS.md（根目录，≤150 行）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Phase 2: aidoc-module-init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子模块 AGENTS.md 批量生成 — L0 模块热记忆层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0" y="182880"/>
            <a:ext cx="777240" cy="777240"/>
          </a:xfrm>
          <a:prstGeom prst="rect">
            <a:avLst/>
          </a:prstGeom>
          <a:solidFill>
            <a:srgbClr val="8B5CF6">
              <a:alpha val="12000"/>
            </a:srgbClr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7432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18872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通过子代理并行为每个叶子模块生成 AGENTS.md。遵循"最近优先"嵌套语义，不重复根文档内容。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2697480" cy="5943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9" name="Shape 6"/>
          <p:cNvSpPr/>
          <p:nvPr/>
        </p:nvSpPr>
        <p:spPr>
          <a:xfrm>
            <a:off x="640080" y="1691640"/>
            <a:ext cx="45720" cy="59436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10" name="Text 7"/>
          <p:cNvSpPr/>
          <p:nvPr/>
        </p:nvSpPr>
        <p:spPr>
          <a:xfrm>
            <a:off x="777240" y="174650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批量确认职责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198424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一次性展示所有模块清单，支持编辑/跳过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93008" y="1691640"/>
            <a:ext cx="2697480" cy="5943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3" name="Shape 10"/>
          <p:cNvSpPr/>
          <p:nvPr/>
        </p:nvSpPr>
        <p:spPr>
          <a:xfrm>
            <a:off x="3493008" y="1691640"/>
            <a:ext cx="45720" cy="59436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14" name="Text 11"/>
          <p:cNvSpPr/>
          <p:nvPr/>
        </p:nvSpPr>
        <p:spPr>
          <a:xfrm>
            <a:off x="3630168" y="174650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子代理并行生成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30168" y="198424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每个模块独立子代理，并发执行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345936" y="1691640"/>
            <a:ext cx="2697480" cy="5943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7" name="Shape 14"/>
          <p:cNvSpPr/>
          <p:nvPr/>
        </p:nvSpPr>
        <p:spPr>
          <a:xfrm>
            <a:off x="6345936" y="1691640"/>
            <a:ext cx="45720" cy="59436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18" name="Text 15"/>
          <p:cNvSpPr/>
          <p:nvPr/>
        </p:nvSpPr>
        <p:spPr>
          <a:xfrm>
            <a:off x="6483096" y="174650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重复模式检测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83096" y="198424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 controller/service/repo 等模式，批量处理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751076" y="2395728"/>
            <a:ext cx="2697480" cy="5943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1" name="Shape 18"/>
          <p:cNvSpPr/>
          <p:nvPr/>
        </p:nvSpPr>
        <p:spPr>
          <a:xfrm>
            <a:off x="1751076" y="2395728"/>
            <a:ext cx="45720" cy="59436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22" name="Text 19"/>
          <p:cNvSpPr/>
          <p:nvPr/>
        </p:nvSpPr>
        <p:spPr>
          <a:xfrm>
            <a:off x="1888236" y="24505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约定自动提取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888236" y="268833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错误处理、命名约定、分层架构自动识别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604004" y="2395728"/>
            <a:ext cx="2697480" cy="5943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5" name="Shape 22"/>
          <p:cNvSpPr/>
          <p:nvPr/>
        </p:nvSpPr>
        <p:spPr>
          <a:xfrm>
            <a:off x="4604004" y="2395728"/>
            <a:ext cx="45720" cy="59436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26" name="Text 23"/>
          <p:cNvSpPr/>
          <p:nvPr/>
        </p:nvSpPr>
        <p:spPr>
          <a:xfrm>
            <a:off x="4741164" y="24505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遵循嵌套语义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741164" y="268833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只写本子树独有内容，不复制父级 AGENTS.md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40080" y="4297680"/>
            <a:ext cx="7772400" cy="41148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9" name="Text 26"/>
          <p:cNvSpPr/>
          <p:nvPr/>
        </p:nvSpPr>
        <p:spPr>
          <a:xfrm>
            <a:off x="777240" y="4297680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&lt;module&gt;/AGENTS.md × N（每个 30-50 行）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Phase 3: aidoc-architecture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架构文档 — matklad 三段式范式（Bird's-eye → Code map → Cross-cutting）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0" y="182880"/>
            <a:ext cx="777240" cy="777240"/>
          </a:xfrm>
          <a:prstGeom prst="rect">
            <a:avLst/>
          </a:prstGeom>
          <a:solidFill>
            <a:srgbClr val="0EA5E9">
              <a:alpha val="12000"/>
            </a:srgbClr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7432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18872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matklad 三段式格式生成架构文档。"在哪里改"比"怎么改"重要 5 倍 — 代码地图是第一公民。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2697480" cy="5943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9" name="Shape 6"/>
          <p:cNvSpPr/>
          <p:nvPr/>
        </p:nvSpPr>
        <p:spPr>
          <a:xfrm>
            <a:off x="640080" y="1691640"/>
            <a:ext cx="45720" cy="594360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10" name="Text 7"/>
          <p:cNvSpPr/>
          <p:nvPr/>
        </p:nvSpPr>
        <p:spPr>
          <a:xfrm>
            <a:off x="777240" y="174650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鸟瞰视图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198424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句说明项目做什么、用户是谁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93008" y="1691640"/>
            <a:ext cx="2697480" cy="5943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3" name="Shape 10"/>
          <p:cNvSpPr/>
          <p:nvPr/>
        </p:nvSpPr>
        <p:spPr>
          <a:xfrm>
            <a:off x="3493008" y="1691640"/>
            <a:ext cx="45720" cy="594360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14" name="Text 11"/>
          <p:cNvSpPr/>
          <p:nvPr/>
        </p:nvSpPr>
        <p:spPr>
          <a:xfrm>
            <a:off x="3630168" y="174650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代码地图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30168" y="198424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每个模块 2-5 句：入口文件、关键导出、架构角色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345936" y="1691640"/>
            <a:ext cx="2697480" cy="5943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7" name="Shape 14"/>
          <p:cNvSpPr/>
          <p:nvPr/>
        </p:nvSpPr>
        <p:spPr>
          <a:xfrm>
            <a:off x="6345936" y="1691640"/>
            <a:ext cx="45720" cy="594360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18" name="Text 15"/>
          <p:cNvSpPr/>
          <p:nvPr/>
        </p:nvSpPr>
        <p:spPr>
          <a:xfrm>
            <a:off x="6483096" y="174650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横切关注点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83096" y="198424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错误处理、可观测性、测试策略、构建部署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751076" y="2395728"/>
            <a:ext cx="2697480" cy="5943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1" name="Shape 18"/>
          <p:cNvSpPr/>
          <p:nvPr/>
        </p:nvSpPr>
        <p:spPr>
          <a:xfrm>
            <a:off x="1751076" y="2395728"/>
            <a:ext cx="45720" cy="594360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22" name="Text 19"/>
          <p:cNvSpPr/>
          <p:nvPr/>
        </p:nvSpPr>
        <p:spPr>
          <a:xfrm>
            <a:off x="1888236" y="24505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关键约束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888236" y="268833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不直接链接文件（防失效）· ≤300 行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604004" y="2395728"/>
            <a:ext cx="2697480" cy="5943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5" name="Shape 22"/>
          <p:cNvSpPr/>
          <p:nvPr/>
        </p:nvSpPr>
        <p:spPr>
          <a:xfrm>
            <a:off x="4604004" y="2395728"/>
            <a:ext cx="45720" cy="594360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26" name="Text 23"/>
          <p:cNvSpPr/>
          <p:nvPr/>
        </p:nvSpPr>
        <p:spPr>
          <a:xfrm>
            <a:off x="4741164" y="24505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智能标注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741164" y="268833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[✓ 自动] / [~ 推断] / [? 待审核]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40080" y="4297680"/>
            <a:ext cx="7772400" cy="41148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9" name="Text 26"/>
          <p:cNvSpPr/>
          <p:nvPr/>
        </p:nvSpPr>
        <p:spPr>
          <a:xfrm>
            <a:off x="777240" y="4297680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docs/ARCHITECTURE.md（≤300 行）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Phase 4: aidoc-knowledge-init (4a+4b)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知识架构骨架 — 对应五层架构的 L1+L2+L3+L4 层，拆分为 4a（Skills）+ 4b（Learnings）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0" y="182880"/>
            <a:ext cx="777240" cy="777240"/>
          </a:xfrm>
          <a:prstGeom prst="rect">
            <a:avLst/>
          </a:prstGeom>
          <a:solidFill>
            <a:srgbClr val="14B8A6">
              <a:alpha val="12000"/>
            </a:srgbClr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7432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18872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构建四维知识目录：L1 领域能力（skills/）、L2 决策记录（adr/）、L3 经验库（learnings/）、L4 知识库（knowledge/）。拆分为 4a skill-init + 4b learnings-init 两阶段。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2697480" cy="5943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9" name="Shape 6"/>
          <p:cNvSpPr/>
          <p:nvPr/>
        </p:nvSpPr>
        <p:spPr>
          <a:xfrm>
            <a:off x="640080" y="1691640"/>
            <a:ext cx="45720" cy="59436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10" name="Text 7"/>
          <p:cNvSpPr/>
          <p:nvPr/>
        </p:nvSpPr>
        <p:spPr>
          <a:xfrm>
            <a:off x="777240" y="174650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领域能力 L1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198424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docs/skills/ — 4a: aidoc-skill-init 封装可复用操作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93008" y="1691640"/>
            <a:ext cx="2697480" cy="5943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3" name="Shape 10"/>
          <p:cNvSpPr/>
          <p:nvPr/>
        </p:nvSpPr>
        <p:spPr>
          <a:xfrm>
            <a:off x="3493008" y="1691640"/>
            <a:ext cx="45720" cy="59436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14" name="Text 11"/>
          <p:cNvSpPr/>
          <p:nvPr/>
        </p:nvSpPr>
        <p:spPr>
          <a:xfrm>
            <a:off x="3630168" y="174650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决策记录 L2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30168" y="198424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docs/knowledge/decisions/ — 检测并生成 MADR 格式决策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345936" y="1691640"/>
            <a:ext cx="2697480" cy="5943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7" name="Shape 14"/>
          <p:cNvSpPr/>
          <p:nvPr/>
        </p:nvSpPr>
        <p:spPr>
          <a:xfrm>
            <a:off x="6345936" y="1691640"/>
            <a:ext cx="45720" cy="59436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18" name="Text 15"/>
          <p:cNvSpPr/>
          <p:nvPr/>
        </p:nvSpPr>
        <p:spPr>
          <a:xfrm>
            <a:off x="6483096" y="174650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经验库 L3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83096" y="198424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docs/learnings/ — 4b: aidoc-learnings-init 初始化三项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751076" y="2395728"/>
            <a:ext cx="2697480" cy="5943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1" name="Shape 18"/>
          <p:cNvSpPr/>
          <p:nvPr/>
        </p:nvSpPr>
        <p:spPr>
          <a:xfrm>
            <a:off x="1751076" y="2395728"/>
            <a:ext cx="45720" cy="59436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22" name="Text 19"/>
          <p:cNvSpPr/>
          <p:nvPr/>
        </p:nvSpPr>
        <p:spPr>
          <a:xfrm>
            <a:off x="1888236" y="24505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知识文章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888236" y="268833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docs/knowledge/ — Phase 6 深度构建 C4+Mermaid+ADR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604004" y="2395728"/>
            <a:ext cx="2697480" cy="5943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5" name="Shape 22"/>
          <p:cNvSpPr/>
          <p:nvPr/>
        </p:nvSpPr>
        <p:spPr>
          <a:xfrm>
            <a:off x="4604004" y="2395728"/>
            <a:ext cx="45720" cy="59436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26" name="Text 23"/>
          <p:cNvSpPr/>
          <p:nvPr/>
        </p:nvSpPr>
        <p:spPr>
          <a:xfrm>
            <a:off x="4741164" y="24505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回写入口索引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741164" y="268833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将四维索引写回根 AGENTS.md，确保 AI 可发现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40080" y="4297680"/>
            <a:ext cx="7772400" cy="41148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9" name="Text 26"/>
          <p:cNvSpPr/>
          <p:nvPr/>
        </p:nvSpPr>
        <p:spPr>
          <a:xfrm>
            <a:off x="777240" y="4297680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Phase 4a: docs/skills/ + Phase 4b: docs/learnings/  (知识库由 Phase 6 深度构建)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aidoc-create-adr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架构决策记录 — MADR 格式 · L2 决策知识层 · AI 可程序化检索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0" y="182880"/>
            <a:ext cx="777240" cy="777240"/>
          </a:xfrm>
          <a:prstGeom prst="rect">
            <a:avLst/>
          </a:prstGeom>
          <a:solidFill>
            <a:srgbClr val="F59E0B">
              <a:alpha val="12000"/>
            </a:srgbClr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7432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14300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文档结构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1627632"/>
            <a:ext cx="3931920" cy="338328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9" name="Shape 6"/>
          <p:cNvSpPr/>
          <p:nvPr/>
        </p:nvSpPr>
        <p:spPr>
          <a:xfrm>
            <a:off x="640080" y="1627632"/>
            <a:ext cx="45720" cy="33832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0" name="Text 7"/>
          <p:cNvSpPr/>
          <p:nvPr/>
        </p:nvSpPr>
        <p:spPr>
          <a:xfrm>
            <a:off x="804672" y="1645920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背景上下文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468880" y="1645920"/>
            <a:ext cx="20116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问题陈述、技术约束、业务需求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2011680"/>
            <a:ext cx="3931920" cy="338328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3" name="Shape 10"/>
          <p:cNvSpPr/>
          <p:nvPr/>
        </p:nvSpPr>
        <p:spPr>
          <a:xfrm>
            <a:off x="640080" y="2011680"/>
            <a:ext cx="45720" cy="33832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4" name="Text 11"/>
          <p:cNvSpPr/>
          <p:nvPr/>
        </p:nvSpPr>
        <p:spPr>
          <a:xfrm>
            <a:off x="804672" y="2029968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决策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468880" y="2029968"/>
            <a:ext cx="20116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所选方案与明确的选型理由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40080" y="2395728"/>
            <a:ext cx="3931920" cy="338328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7" name="Shape 14"/>
          <p:cNvSpPr/>
          <p:nvPr/>
        </p:nvSpPr>
        <p:spPr>
          <a:xfrm>
            <a:off x="640080" y="2395728"/>
            <a:ext cx="45720" cy="33832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8" name="Text 15"/>
          <p:cNvSpPr/>
          <p:nvPr/>
        </p:nvSpPr>
        <p:spPr>
          <a:xfrm>
            <a:off x="804672" y="2414016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正面后果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468880" y="2414016"/>
            <a:ext cx="20116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POS-NNN 编码，有益成果与优势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40080" y="2779776"/>
            <a:ext cx="3931920" cy="338328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1" name="Shape 18"/>
          <p:cNvSpPr/>
          <p:nvPr/>
        </p:nvSpPr>
        <p:spPr>
          <a:xfrm>
            <a:off x="640080" y="2779776"/>
            <a:ext cx="45720" cy="33832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2" name="Text 19"/>
          <p:cNvSpPr/>
          <p:nvPr/>
        </p:nvSpPr>
        <p:spPr>
          <a:xfrm>
            <a:off x="804672" y="2798064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负面后果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468880" y="2798064"/>
            <a:ext cx="20116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NEG-NNN 编码，权衡与风险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40080" y="3163824"/>
            <a:ext cx="3931920" cy="338328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5" name="Shape 22"/>
          <p:cNvSpPr/>
          <p:nvPr/>
        </p:nvSpPr>
        <p:spPr>
          <a:xfrm>
            <a:off x="640080" y="3163824"/>
            <a:ext cx="45720" cy="33832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6" name="Text 23"/>
          <p:cNvSpPr/>
          <p:nvPr/>
        </p:nvSpPr>
        <p:spPr>
          <a:xfrm>
            <a:off x="804672" y="3182112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备选方案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468880" y="3182112"/>
            <a:ext cx="20116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ALT-NNN 编码，描述及放弃理由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40080" y="3547872"/>
            <a:ext cx="3931920" cy="338328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9" name="Shape 26"/>
          <p:cNvSpPr/>
          <p:nvPr/>
        </p:nvSpPr>
        <p:spPr>
          <a:xfrm>
            <a:off x="640080" y="3547872"/>
            <a:ext cx="45720" cy="33832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0" name="Text 27"/>
          <p:cNvSpPr/>
          <p:nvPr/>
        </p:nvSpPr>
        <p:spPr>
          <a:xfrm>
            <a:off x="804672" y="3566160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实施注意事项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468880" y="3566160"/>
            <a:ext cx="20116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IMP-NNN 编码，迁移策略与监控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029200" y="11430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核心特性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029200" y="1627632"/>
            <a:ext cx="3566160" cy="512064"/>
          </a:xfrm>
          <a:prstGeom prst="rect">
            <a:avLst/>
          </a:prstGeom>
          <a:solidFill>
            <a:srgbClr val="F8FAFC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166360" y="1700784"/>
            <a:ext cx="365760" cy="365760"/>
          </a:xfrm>
          <a:prstGeom prst="rect">
            <a:avLst/>
          </a:prstGeom>
          <a:solidFill>
            <a:srgbClr val="F59E0B">
              <a:alpha val="18000"/>
            </a:srgbClr>
          </a:solidFill>
        </p:spPr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0368" y="1764792"/>
            <a:ext cx="237744" cy="237744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669280" y="16733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 格式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5669280" y="1874520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标准化模板 + YAML frontmatter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可程序化检索决策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5029200" y="2194560"/>
            <a:ext cx="3566160" cy="512064"/>
          </a:xfrm>
          <a:prstGeom prst="rect">
            <a:avLst/>
          </a:prstGeom>
          <a:solidFill>
            <a:srgbClr val="F8FAFC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5166360" y="2267712"/>
            <a:ext cx="365760" cy="365760"/>
          </a:xfrm>
          <a:prstGeom prst="rect">
            <a:avLst/>
          </a:prstGeom>
          <a:solidFill>
            <a:srgbClr val="F59E0B">
              <a:alpha val="18000"/>
            </a:srgbClr>
          </a:solidFill>
        </p:spPr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2331720"/>
            <a:ext cx="237744" cy="237744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5669280" y="22402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前缀编码</a:t>
            </a:r>
            <a:endParaRPr lang="en-US" sz="1200" dirty="0"/>
          </a:p>
        </p:txBody>
      </p:sp>
      <p:sp>
        <p:nvSpPr>
          <p:cNvPr id="42" name="Text 37"/>
          <p:cNvSpPr/>
          <p:nvPr/>
        </p:nvSpPr>
        <p:spPr>
          <a:xfrm>
            <a:off x="5669280" y="2441448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/ NEG / ALT / IMP / REF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体系化编号，永不失效</a:t>
            </a:r>
            <a:endParaRPr lang="en-US" sz="850" dirty="0"/>
          </a:p>
        </p:txBody>
      </p:sp>
      <p:sp>
        <p:nvSpPr>
          <p:cNvPr id="43" name="Shape 38"/>
          <p:cNvSpPr/>
          <p:nvPr/>
        </p:nvSpPr>
        <p:spPr>
          <a:xfrm>
            <a:off x="5029200" y="2761488"/>
            <a:ext cx="3566160" cy="512064"/>
          </a:xfrm>
          <a:prstGeom prst="rect">
            <a:avLst/>
          </a:prstGeom>
          <a:solidFill>
            <a:srgbClr val="F8FAFC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5166360" y="2834640"/>
            <a:ext cx="365760" cy="365760"/>
          </a:xfrm>
          <a:prstGeom prst="rect">
            <a:avLst/>
          </a:prstGeom>
          <a:solidFill>
            <a:srgbClr val="F59E0B">
              <a:alpha val="18000"/>
            </a:srgbClr>
          </a:solidFill>
        </p:spPr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2898648"/>
            <a:ext cx="237744" cy="237744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5669280" y="280720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状态追踪</a:t>
            </a:r>
            <a:endParaRPr lang="en-US" sz="1200" dirty="0"/>
          </a:p>
        </p:txBody>
      </p:sp>
      <p:sp>
        <p:nvSpPr>
          <p:cNvPr id="47" name="Text 41"/>
          <p:cNvSpPr/>
          <p:nvPr/>
        </p:nvSpPr>
        <p:spPr>
          <a:xfrm>
            <a:off x="5669280" y="3008376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→ Accepted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Deprecated → Superseded</a:t>
            </a:r>
            <a:endParaRPr lang="en-US" sz="850" dirty="0"/>
          </a:p>
        </p:txBody>
      </p:sp>
      <p:sp>
        <p:nvSpPr>
          <p:cNvPr id="48" name="Shape 42"/>
          <p:cNvSpPr/>
          <p:nvPr/>
        </p:nvSpPr>
        <p:spPr>
          <a:xfrm>
            <a:off x="5029200" y="3328416"/>
            <a:ext cx="3566160" cy="512064"/>
          </a:xfrm>
          <a:prstGeom prst="rect">
            <a:avLst/>
          </a:prstGeom>
          <a:solidFill>
            <a:srgbClr val="F8FAFC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3"/>
          <p:cNvSpPr/>
          <p:nvPr/>
        </p:nvSpPr>
        <p:spPr>
          <a:xfrm>
            <a:off x="5166360" y="3401568"/>
            <a:ext cx="365760" cy="365760"/>
          </a:xfrm>
          <a:prstGeom prst="rect">
            <a:avLst/>
          </a:prstGeom>
          <a:solidFill>
            <a:srgbClr val="F59E0B">
              <a:alpha val="18000"/>
            </a:srgbClr>
          </a:solidFill>
        </p:spPr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3465576"/>
            <a:ext cx="237744" cy="237744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5669280" y="3374136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智能检测</a:t>
            </a:r>
            <a:endParaRPr lang="en-US" sz="1200" dirty="0"/>
          </a:p>
        </p:txBody>
      </p:sp>
      <p:sp>
        <p:nvSpPr>
          <p:cNvPr id="52" name="Text 45"/>
          <p:cNvSpPr/>
          <p:nvPr/>
        </p:nvSpPr>
        <p:spPr>
          <a:xfrm>
            <a:off x="5669280" y="357530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build tag · DI 框架 · DB 驱动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自动识别值得记录的决策点</a:t>
            </a:r>
            <a:endParaRPr lang="en-US" sz="850" dirty="0"/>
          </a:p>
        </p:txBody>
      </p:sp>
      <p:sp>
        <p:nvSpPr>
          <p:cNvPr id="53" name="Shape 46"/>
          <p:cNvSpPr/>
          <p:nvPr/>
        </p:nvSpPr>
        <p:spPr>
          <a:xfrm>
            <a:off x="5029200" y="3895344"/>
            <a:ext cx="3566160" cy="512064"/>
          </a:xfrm>
          <a:prstGeom prst="rect">
            <a:avLst/>
          </a:prstGeom>
          <a:solidFill>
            <a:srgbClr val="F8FAFC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4" name="Shape 47"/>
          <p:cNvSpPr/>
          <p:nvPr/>
        </p:nvSpPr>
        <p:spPr>
          <a:xfrm>
            <a:off x="5166360" y="3968496"/>
            <a:ext cx="365760" cy="365760"/>
          </a:xfrm>
          <a:prstGeom prst="rect">
            <a:avLst/>
          </a:prstGeom>
          <a:solidFill>
            <a:srgbClr val="F59E0B">
              <a:alpha val="18000"/>
            </a:srgbClr>
          </a:solidFill>
        </p:spPr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0368" y="4032504"/>
            <a:ext cx="237744" cy="237744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5669280" y="39410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幂等安全</a:t>
            </a:r>
            <a:endParaRPr lang="en-US" sz="1200" dirty="0"/>
          </a:p>
        </p:txBody>
      </p:sp>
      <p:sp>
        <p:nvSpPr>
          <p:cNvPr id="57" name="Text 49"/>
          <p:cNvSpPr/>
          <p:nvPr/>
        </p:nvSpPr>
        <p:spPr>
          <a:xfrm>
            <a:off x="5669280" y="4142232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已存在则展示 diff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让用户选择，不静默覆盖</a:t>
            </a:r>
            <a:endParaRPr lang="en-US" sz="850" dirty="0"/>
          </a:p>
        </p:txBody>
      </p:sp>
      <p:sp>
        <p:nvSpPr>
          <p:cNvPr id="58" name="Shape 50"/>
          <p:cNvSpPr/>
          <p:nvPr/>
        </p:nvSpPr>
        <p:spPr>
          <a:xfrm>
            <a:off x="640080" y="4617720"/>
            <a:ext cx="7772400" cy="3200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9" name="Text 51"/>
          <p:cNvSpPr/>
          <p:nvPr/>
        </p:nvSpPr>
        <p:spPr>
          <a:xfrm>
            <a:off x="777240" y="4617720"/>
            <a:ext cx="7498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docs/knowledge/decisions/NNNN-title.md  |  命名: adr-0001-数据库选型.md  |  MADR 2.1.2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aidoc-learning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持续学习与经验管理 — L3 经验库层 · 自动化知识闭环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0" y="182880"/>
            <a:ext cx="777240" cy="777240"/>
          </a:xfrm>
          <a:prstGeom prst="rect">
            <a:avLst/>
          </a:prstGeom>
          <a:solidFill>
            <a:srgbClr val="10B981">
              <a:alpha val="12000"/>
            </a:srgbClr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7432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14300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触发场景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1572768"/>
            <a:ext cx="1965960" cy="3657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9" name="Shape 6"/>
          <p:cNvSpPr/>
          <p:nvPr/>
        </p:nvSpPr>
        <p:spPr>
          <a:xfrm>
            <a:off x="640080" y="1572768"/>
            <a:ext cx="45720" cy="3657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0" name="Text 7"/>
          <p:cNvSpPr/>
          <p:nvPr/>
        </p:nvSpPr>
        <p:spPr>
          <a:xfrm>
            <a:off x="777240" y="1600200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命令失败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7240" y="1773936"/>
            <a:ext cx="17373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返回非零退出码或异常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40080" y="1993392"/>
            <a:ext cx="1965960" cy="3657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3" name="Shape 10"/>
          <p:cNvSpPr/>
          <p:nvPr/>
        </p:nvSpPr>
        <p:spPr>
          <a:xfrm>
            <a:off x="640080" y="1993392"/>
            <a:ext cx="45720" cy="3657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4" name="Text 11"/>
          <p:cNvSpPr/>
          <p:nvPr/>
        </p:nvSpPr>
        <p:spPr>
          <a:xfrm>
            <a:off x="777240" y="2020824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用户纠错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77240" y="2194560"/>
            <a:ext cx="17373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"不对，应该是..." / "实际上..."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40080" y="2414016"/>
            <a:ext cx="1965960" cy="3657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7" name="Shape 14"/>
          <p:cNvSpPr/>
          <p:nvPr/>
        </p:nvSpPr>
        <p:spPr>
          <a:xfrm>
            <a:off x="640080" y="2414016"/>
            <a:ext cx="45720" cy="3657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8" name="Text 15"/>
          <p:cNvSpPr/>
          <p:nvPr/>
        </p:nvSpPr>
        <p:spPr>
          <a:xfrm>
            <a:off x="777240" y="2441448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功能请求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77240" y="2615184"/>
            <a:ext cx="17373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用户请求不存在的功能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2697480" y="1572768"/>
            <a:ext cx="1965960" cy="3657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1" name="Shape 18"/>
          <p:cNvSpPr/>
          <p:nvPr/>
        </p:nvSpPr>
        <p:spPr>
          <a:xfrm>
            <a:off x="2697480" y="1572768"/>
            <a:ext cx="45720" cy="3657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2" name="Text 19"/>
          <p:cNvSpPr/>
          <p:nvPr/>
        </p:nvSpPr>
        <p:spPr>
          <a:xfrm>
            <a:off x="2834640" y="1600200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知识过时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2834640" y="1773936"/>
            <a:ext cx="17373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发现知识已过时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697480" y="1993392"/>
            <a:ext cx="1965960" cy="3657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5" name="Shape 22"/>
          <p:cNvSpPr/>
          <p:nvPr/>
        </p:nvSpPr>
        <p:spPr>
          <a:xfrm>
            <a:off x="2697480" y="1993392"/>
            <a:ext cx="45720" cy="3657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6" name="Text 23"/>
          <p:cNvSpPr/>
          <p:nvPr/>
        </p:nvSpPr>
        <p:spPr>
          <a:xfrm>
            <a:off x="2834640" y="2020824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外部故障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2834640" y="2194560"/>
            <a:ext cx="17373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或外部工具失败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2697480" y="2414016"/>
            <a:ext cx="1965960" cy="3657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9" name="Shape 26"/>
          <p:cNvSpPr/>
          <p:nvPr/>
        </p:nvSpPr>
        <p:spPr>
          <a:xfrm>
            <a:off x="2697480" y="2414016"/>
            <a:ext cx="45720" cy="3657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0" name="Text 27"/>
          <p:cNvSpPr/>
          <p:nvPr/>
        </p:nvSpPr>
        <p:spPr>
          <a:xfrm>
            <a:off x="2834640" y="2441448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最佳实践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2834640" y="2615184"/>
            <a:ext cx="17373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为重复任务找到更好方式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029200" y="114300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三文件结构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029200" y="1572768"/>
            <a:ext cx="3566160" cy="640080"/>
          </a:xfrm>
          <a:prstGeom prst="rect">
            <a:avLst/>
          </a:prstGeom>
          <a:solidFill>
            <a:srgbClr val="F8FAFC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029200" y="1572768"/>
            <a:ext cx="356616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5" name="Shape 32"/>
          <p:cNvSpPr/>
          <p:nvPr/>
        </p:nvSpPr>
        <p:spPr>
          <a:xfrm>
            <a:off x="5166360" y="1682496"/>
            <a:ext cx="420624" cy="420624"/>
          </a:xfrm>
          <a:prstGeom prst="rect">
            <a:avLst/>
          </a:prstGeom>
          <a:solidFill>
            <a:srgbClr val="10B981">
              <a:alpha val="15000"/>
            </a:srgbClr>
          </a:solidFill>
        </p:spPr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512" y="1755648"/>
            <a:ext cx="274320" cy="27432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5715000" y="1636776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LEARNINGS.md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7498080" y="1655064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LRN-YYYYMMDD-XXX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5715000" y="1883664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· insight · knowledge_gap · best_practice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5029200" y="2286000"/>
            <a:ext cx="3566160" cy="640080"/>
          </a:xfrm>
          <a:prstGeom prst="rect">
            <a:avLst/>
          </a:prstGeom>
          <a:solidFill>
            <a:srgbClr val="F8FAFC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5029200" y="2286000"/>
            <a:ext cx="3566160" cy="4572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42" name="Shape 38"/>
          <p:cNvSpPr/>
          <p:nvPr/>
        </p:nvSpPr>
        <p:spPr>
          <a:xfrm>
            <a:off x="5166360" y="2395728"/>
            <a:ext cx="420624" cy="420624"/>
          </a:xfrm>
          <a:prstGeom prst="rect">
            <a:avLst/>
          </a:prstGeom>
          <a:solidFill>
            <a:srgbClr val="EF4444">
              <a:alpha val="15000"/>
            </a:srgbClr>
          </a:solidFill>
        </p:spPr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512" y="2468880"/>
            <a:ext cx="274320" cy="274320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5715000" y="235000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ERRORS.md</a:t>
            </a:r>
            <a:endParaRPr lang="en-US" sz="1300" dirty="0"/>
          </a:p>
        </p:txBody>
      </p:sp>
      <p:sp>
        <p:nvSpPr>
          <p:cNvPr id="45" name="Text 40"/>
          <p:cNvSpPr/>
          <p:nvPr/>
        </p:nvSpPr>
        <p:spPr>
          <a:xfrm>
            <a:off x="7498080" y="2368296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ERR-YYYYMMDD-XXX</a:t>
            </a:r>
            <a:endParaRPr lang="en-US" sz="800" dirty="0"/>
          </a:p>
        </p:txBody>
      </p:sp>
      <p:sp>
        <p:nvSpPr>
          <p:cNvPr id="46" name="Text 41"/>
          <p:cNvSpPr/>
          <p:nvPr/>
        </p:nvSpPr>
        <p:spPr>
          <a:xfrm>
            <a:off x="5715000" y="259689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命令失败 · 异常堆栈 · 集成错误 · 超时</a:t>
            </a:r>
            <a:endParaRPr lang="en-US" sz="850" dirty="0"/>
          </a:p>
        </p:txBody>
      </p:sp>
      <p:sp>
        <p:nvSpPr>
          <p:cNvPr id="47" name="Shape 42"/>
          <p:cNvSpPr/>
          <p:nvPr/>
        </p:nvSpPr>
        <p:spPr>
          <a:xfrm>
            <a:off x="5029200" y="2999232"/>
            <a:ext cx="3566160" cy="640080"/>
          </a:xfrm>
          <a:prstGeom prst="rect">
            <a:avLst/>
          </a:prstGeom>
          <a:solidFill>
            <a:srgbClr val="F8FAFC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43"/>
          <p:cNvSpPr/>
          <p:nvPr/>
        </p:nvSpPr>
        <p:spPr>
          <a:xfrm>
            <a:off x="5029200" y="2999232"/>
            <a:ext cx="3566160" cy="457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9" name="Shape 44"/>
          <p:cNvSpPr/>
          <p:nvPr/>
        </p:nvSpPr>
        <p:spPr>
          <a:xfrm>
            <a:off x="5166360" y="3108960"/>
            <a:ext cx="420624" cy="420624"/>
          </a:xfrm>
          <a:prstGeom prst="rect">
            <a:avLst/>
          </a:prstGeom>
          <a:solidFill>
            <a:srgbClr val="F59E0B">
              <a:alpha val="15000"/>
            </a:srgbClr>
          </a:solidFill>
        </p:spPr>
      </p:sp>
      <p:pic>
        <p:nvPicPr>
          <p:cNvPr id="5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512" y="3182112"/>
            <a:ext cx="274320" cy="274320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5715000" y="306324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FEATURE_REQUESTS.md</a:t>
            </a:r>
            <a:endParaRPr lang="en-US" sz="1300" dirty="0"/>
          </a:p>
        </p:txBody>
      </p:sp>
      <p:sp>
        <p:nvSpPr>
          <p:cNvPr id="52" name="Text 46"/>
          <p:cNvSpPr/>
          <p:nvPr/>
        </p:nvSpPr>
        <p:spPr>
          <a:xfrm>
            <a:off x="7498080" y="3081528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FEAT-YYYYMMDD-XXX</a:t>
            </a:r>
            <a:endParaRPr lang="en-US" sz="800" dirty="0"/>
          </a:p>
        </p:txBody>
      </p:sp>
      <p:sp>
        <p:nvSpPr>
          <p:cNvPr id="53" name="Text 47"/>
          <p:cNvSpPr/>
          <p:nvPr/>
        </p:nvSpPr>
        <p:spPr>
          <a:xfrm>
            <a:off x="5715000" y="331012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用户请求 · 复杂度评估 · 实现建议</a:t>
            </a:r>
            <a:endParaRPr lang="en-US" sz="850" dirty="0"/>
          </a:p>
        </p:txBody>
      </p:sp>
      <p:sp>
        <p:nvSpPr>
          <p:cNvPr id="54" name="Shape 48"/>
          <p:cNvSpPr/>
          <p:nvPr/>
        </p:nvSpPr>
        <p:spPr>
          <a:xfrm>
            <a:off x="640080" y="3886200"/>
            <a:ext cx="7772400" cy="256032"/>
          </a:xfrm>
          <a:prstGeom prst="rect">
            <a:avLst/>
          </a:prstGeom>
          <a:solidFill>
            <a:srgbClr val="10B981">
              <a:alpha val="8000"/>
            </a:srgbClr>
          </a:solidFill>
        </p:spPr>
      </p:sp>
      <p:sp>
        <p:nvSpPr>
          <p:cNvPr id="55" name="Text 49"/>
          <p:cNvSpPr/>
          <p:nvPr/>
        </p:nvSpPr>
        <p:spPr>
          <a:xfrm>
            <a:off x="777240" y="3886200"/>
            <a:ext cx="7498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⛩  知识质量门禁：可复现？有时效？有上下文？有排他性？    |    升级路径：LEARNINGS → CLAUDE.md/AGENTS.md → Skill 提取</a:t>
            </a:r>
            <a:endParaRPr lang="en-US" sz="1050" dirty="0"/>
          </a:p>
        </p:txBody>
      </p:sp>
      <p:sp>
        <p:nvSpPr>
          <p:cNvPr id="56" name="Shape 50"/>
          <p:cNvSpPr/>
          <p:nvPr/>
        </p:nvSpPr>
        <p:spPr>
          <a:xfrm>
            <a:off x="640080" y="4297680"/>
            <a:ext cx="7772400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7" name="Text 51"/>
          <p:cNvSpPr/>
          <p:nvPr/>
        </p:nvSpPr>
        <p:spPr>
          <a:xfrm>
            <a:off x="822960" y="4315968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核心原则 (Vercel/Princeton, 2026)：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人类审核是经验库的最后闸门 — LLM 自生成的 AGENTS.md 反而降低成功率 2%、增加成本 23%。索引引导检索优于向量 RAG（&lt;500 篇时）。精简 &gt; 详尽：每多 100 行，遵循率降 3-5%。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Phase 5: aidoc-adapt-claude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原生适配 — 接通 Anthropic 四层加载模型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0" y="182880"/>
            <a:ext cx="777240" cy="777240"/>
          </a:xfrm>
          <a:prstGeom prst="rect">
            <a:avLst/>
          </a:prstGeom>
          <a:solidFill>
            <a:srgbClr val="0EA5E9">
              <a:alpha val="12000"/>
            </a:srgbClr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74320"/>
            <a:ext cx="59436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371600"/>
            <a:ext cx="1965960" cy="2377440"/>
          </a:xfrm>
          <a:prstGeom prst="rect">
            <a:avLst/>
          </a:prstGeom>
          <a:solidFill>
            <a:srgbClr val="F8FAFC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280160" y="1554480"/>
            <a:ext cx="685800" cy="685800"/>
          </a:xfrm>
          <a:prstGeom prst="rect">
            <a:avLst/>
          </a:prstGeom>
          <a:solidFill>
            <a:srgbClr val="0EA5E9">
              <a:alpha val="15000"/>
            </a:srgbClr>
          </a:solidFill>
        </p:spPr>
      </p:sp>
      <p:sp>
        <p:nvSpPr>
          <p:cNvPr id="9" name="Text 6"/>
          <p:cNvSpPr/>
          <p:nvPr/>
        </p:nvSpPr>
        <p:spPr>
          <a:xfrm>
            <a:off x="1280160" y="155448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E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7240" y="2377440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桥接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743200"/>
            <a:ext cx="16916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创建/追加 @AGENTS.md 入口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铁律：绝不覆盖已有文件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61488" y="1371600"/>
            <a:ext cx="1965960" cy="2377440"/>
          </a:xfrm>
          <a:prstGeom prst="rect">
            <a:avLst/>
          </a:prstGeom>
          <a:solidFill>
            <a:srgbClr val="F8FAFC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01568" y="1554480"/>
            <a:ext cx="685800" cy="685800"/>
          </a:xfrm>
          <a:prstGeom prst="rect">
            <a:avLst/>
          </a:prstGeom>
          <a:solidFill>
            <a:srgbClr val="14B8A6">
              <a:alpha val="15000"/>
            </a:srgbClr>
          </a:solidFill>
        </p:spPr>
      </p:sp>
      <p:sp>
        <p:nvSpPr>
          <p:cNvPr id="14" name="Text 11"/>
          <p:cNvSpPr/>
          <p:nvPr/>
        </p:nvSpPr>
        <p:spPr>
          <a:xfrm>
            <a:off x="3401568" y="155448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898648" y="2377440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.claude/rules/ 规则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898648" y="2743200"/>
            <a:ext cx="16916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 3 个（style/testing/arch）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 ≤15 行 @-import 索引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882896" y="1371600"/>
            <a:ext cx="1965960" cy="2377440"/>
          </a:xfrm>
          <a:prstGeom prst="rect">
            <a:avLst/>
          </a:prstGeom>
          <a:solidFill>
            <a:srgbClr val="F8FAFC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22976" y="1554480"/>
            <a:ext cx="685800" cy="685800"/>
          </a:xfrm>
          <a:prstGeom prst="rect">
            <a:avLst/>
          </a:prstGeom>
          <a:solidFill>
            <a:srgbClr val="8B5CF6">
              <a:alpha val="15000"/>
            </a:srgbClr>
          </a:solidFill>
        </p:spPr>
      </p:sp>
      <p:sp>
        <p:nvSpPr>
          <p:cNvPr id="19" name="Text 16"/>
          <p:cNvSpPr/>
          <p:nvPr/>
        </p:nvSpPr>
        <p:spPr>
          <a:xfrm>
            <a:off x="5522976" y="155448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5C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020056" y="2377440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软链接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020056" y="2743200"/>
            <a:ext cx="16916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 -s ../docs/skills .claude/skills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版本控制真源 → 原生发现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004304" y="1371600"/>
            <a:ext cx="1965960" cy="2377440"/>
          </a:xfrm>
          <a:prstGeom prst="rect">
            <a:avLst/>
          </a:prstGeom>
          <a:solidFill>
            <a:srgbClr val="F8FAFC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644384" y="1554480"/>
            <a:ext cx="685800" cy="685800"/>
          </a:xfrm>
          <a:prstGeom prst="rect">
            <a:avLst/>
          </a:prstGeom>
          <a:solidFill>
            <a:srgbClr val="F59E0B">
              <a:alpha val="15000"/>
            </a:srgbClr>
          </a:solidFill>
        </p:spPr>
      </p:sp>
      <p:sp>
        <p:nvSpPr>
          <p:cNvPr id="24" name="Text 21"/>
          <p:cNvSpPr/>
          <p:nvPr/>
        </p:nvSpPr>
        <p:spPr>
          <a:xfrm>
            <a:off x="7644384" y="155448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7141464" y="2377440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注册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141464" y="2743200"/>
            <a:ext cx="16916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 activator.sh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UserPromptSubmit 自动触发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40080" y="4297680"/>
            <a:ext cx="7772400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8" name="Text 25"/>
          <p:cNvSpPr/>
          <p:nvPr/>
        </p:nvSpPr>
        <p:spPr>
          <a:xfrm>
            <a:off x="822960" y="4315968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路径作用域加载（Anthropic 四层加载模型第二层）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global-style.md → paths: ["**/*.java", "**/*.py"] — 仅编辑源码时加载  |  global-testing.md → paths: ["**/*Test.java", "tests/**"] — 仅编辑测试时加载  |  architecture.md → paths: [] — 始终加载（架构不变式）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aidoc-build — 主流程编排器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一键串联 Phase 0–6，交互式确认 + 幂等安全 + 数据驱动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554480"/>
            <a:ext cx="1325880" cy="10058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554480"/>
            <a:ext cx="1325880" cy="45720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6" name="Text 4"/>
          <p:cNvSpPr/>
          <p:nvPr/>
        </p:nvSpPr>
        <p:spPr>
          <a:xfrm>
            <a:off x="320040" y="164592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探索画像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21284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repo-explore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664208" y="1783080"/>
            <a:ext cx="91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755648" y="1554480"/>
            <a:ext cx="1325880" cy="10058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755648" y="1554480"/>
            <a:ext cx="1325880" cy="4572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12" name="Text 10"/>
          <p:cNvSpPr/>
          <p:nvPr/>
        </p:nvSpPr>
        <p:spPr>
          <a:xfrm>
            <a:off x="1755648" y="164592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55648" y="192024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根文档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55648" y="221284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repo-init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099816" y="1783080"/>
            <a:ext cx="91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91256" y="1554480"/>
            <a:ext cx="1325880" cy="10058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91256" y="1554480"/>
            <a:ext cx="1325880" cy="4572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18" name="Text 16"/>
          <p:cNvSpPr/>
          <p:nvPr/>
        </p:nvSpPr>
        <p:spPr>
          <a:xfrm>
            <a:off x="3191256" y="164592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91256" y="192024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模块文档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91256" y="221284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module-init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535424" y="1783080"/>
            <a:ext cx="91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26864" y="1554480"/>
            <a:ext cx="1325880" cy="10058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26864" y="1554480"/>
            <a:ext cx="1325880" cy="457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4" name="Text 22"/>
          <p:cNvSpPr/>
          <p:nvPr/>
        </p:nvSpPr>
        <p:spPr>
          <a:xfrm>
            <a:off x="4626864" y="164592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26864" y="192024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架构文档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26864" y="221284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971032" y="1783080"/>
            <a:ext cx="91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▸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62472" y="1554480"/>
            <a:ext cx="1325880" cy="10058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62472" y="1554480"/>
            <a:ext cx="132588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0" name="Text 28"/>
          <p:cNvSpPr/>
          <p:nvPr/>
        </p:nvSpPr>
        <p:spPr>
          <a:xfrm>
            <a:off x="6062472" y="164592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62472" y="192024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知识架构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062472" y="221284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knowledge-init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406640" y="1783080"/>
            <a:ext cx="91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▸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98080" y="1554480"/>
            <a:ext cx="1325880" cy="10058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498080" y="1554480"/>
            <a:ext cx="1325880" cy="45720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36" name="Text 34"/>
          <p:cNvSpPr/>
          <p:nvPr/>
        </p:nvSpPr>
        <p:spPr>
          <a:xfrm>
            <a:off x="7498080" y="164592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98080" y="192024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Claude适配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498080" y="221284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adapt-claude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31520" y="2834640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核心设计原则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31520" y="3246120"/>
            <a:ext cx="2606040" cy="914400"/>
          </a:xfrm>
          <a:prstGeom prst="rect">
            <a:avLst/>
          </a:prstGeom>
          <a:solidFill>
            <a:srgbClr val="F8FAFC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364992"/>
            <a:ext cx="320040" cy="32004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280160" y="329184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阶段化合成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868680" y="3584448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0→6 渐进式生成，每阶段确认后再推进，不跳步不覆盖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3566160" y="3246120"/>
            <a:ext cx="2606040" cy="914400"/>
          </a:xfrm>
          <a:prstGeom prst="rect">
            <a:avLst/>
          </a:prstGeom>
          <a:solidFill>
            <a:srgbClr val="F8FAFC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4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3364992"/>
            <a:ext cx="320040" cy="320040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4114800" y="329184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幂等安全</a:t>
            </a:r>
            <a:endParaRPr lang="en-US" sz="1300" dirty="0"/>
          </a:p>
        </p:txBody>
      </p:sp>
      <p:sp>
        <p:nvSpPr>
          <p:cNvPr id="47" name="Text 43"/>
          <p:cNvSpPr/>
          <p:nvPr/>
        </p:nvSpPr>
        <p:spPr>
          <a:xfrm>
            <a:off x="3703320" y="3584448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已存在文件展示 diff，用户选择保留/合并/替换，永不静默覆盖</a:t>
            </a:r>
            <a:endParaRPr lang="en-US" sz="950" dirty="0"/>
          </a:p>
        </p:txBody>
      </p:sp>
      <p:sp>
        <p:nvSpPr>
          <p:cNvPr id="48" name="Shape 44"/>
          <p:cNvSpPr/>
          <p:nvPr/>
        </p:nvSpPr>
        <p:spPr>
          <a:xfrm>
            <a:off x="6400800" y="3246120"/>
            <a:ext cx="2606040" cy="914400"/>
          </a:xfrm>
          <a:prstGeom prst="rect">
            <a:avLst/>
          </a:prstGeom>
          <a:solidFill>
            <a:srgbClr val="F8FAFC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4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364992"/>
            <a:ext cx="320040" cy="320040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6949440" y="329184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数据驱动</a:t>
            </a:r>
            <a:endParaRPr lang="en-US" sz="1300" dirty="0"/>
          </a:p>
        </p:txBody>
      </p:sp>
      <p:sp>
        <p:nvSpPr>
          <p:cNvPr id="51" name="Text 46"/>
          <p:cNvSpPr/>
          <p:nvPr/>
        </p:nvSpPr>
        <p:spPr>
          <a:xfrm>
            <a:off x="6537960" y="3584448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画像贯穿全流程，下游直接消费，避免重复采集</a:t>
            </a:r>
            <a:endParaRPr lang="en-US" sz="950" dirty="0"/>
          </a:p>
        </p:txBody>
      </p:sp>
      <p:sp>
        <p:nvSpPr>
          <p:cNvPr id="52" name="Shape 47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solidFill>
            <a:srgbClr val="0EA5E9">
              <a:alpha val="10000"/>
            </a:srgbClr>
          </a:solidFill>
        </p:spPr>
      </p:sp>
      <p:sp>
        <p:nvSpPr>
          <p:cNvPr id="53" name="Text 48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最终产出：AGENTS.md × N + ARCHITECTURE.md + CLAUDE.md + docs/ + docs/knowledge/ + .claude/rules/  |  对应五层架构 L0–L4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91440"/>
            <a:ext cx="1828800" cy="1828800"/>
          </a:xfrm>
          <a:prstGeom prst="rect">
            <a:avLst/>
          </a:prstGeom>
          <a:solidFill>
            <a:srgbClr val="0EA5E9">
              <a:alpha val="1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7589520" y="320040"/>
            <a:ext cx="1371600" cy="1371600"/>
          </a:xfrm>
          <a:prstGeom prst="rect">
            <a:avLst/>
          </a:prstGeom>
          <a:solidFill>
            <a:srgbClr val="14B8A6">
              <a:alpha val="2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182880" y="4023360"/>
            <a:ext cx="1097280" cy="1097280"/>
          </a:xfrm>
          <a:prstGeom prst="rect">
            <a:avLst/>
          </a:prstGeom>
          <a:solidFill>
            <a:srgbClr val="0284C7">
              <a:alpha val="12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开始使用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一句话启动 aidoc 文档化流程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1645920"/>
            <a:ext cx="6949440" cy="91440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8" name="Text 6"/>
          <p:cNvSpPr/>
          <p:nvPr/>
        </p:nvSpPr>
        <p:spPr>
          <a:xfrm>
            <a:off x="1097280" y="1645920"/>
            <a:ext cx="69494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14B8A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帮我为代码仓生成结构化文档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260604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触发 aidoc-create，自动执行 Phase 0-6 全流程，构建 L0-L4+ 知识架构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3108960"/>
            <a:ext cx="2240280" cy="7772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1" name="Shape 9"/>
          <p:cNvSpPr/>
          <p:nvPr/>
        </p:nvSpPr>
        <p:spPr>
          <a:xfrm>
            <a:off x="1097280" y="3108960"/>
            <a:ext cx="45720" cy="777240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12" name="Text 10"/>
          <p:cNvSpPr/>
          <p:nvPr/>
        </p:nvSpPr>
        <p:spPr>
          <a:xfrm>
            <a:off x="1234440" y="3182112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探索项目结构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3438144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aidoc-repo-explore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234440" y="3621024"/>
            <a:ext cx="1965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快速了解陌生代码仓全貌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20440" y="3108960"/>
            <a:ext cx="2240280" cy="7772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6" name="Shape 14"/>
          <p:cNvSpPr/>
          <p:nvPr/>
        </p:nvSpPr>
        <p:spPr>
          <a:xfrm>
            <a:off x="3520440" y="3108960"/>
            <a:ext cx="45720" cy="777240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17" name="Text 15"/>
          <p:cNvSpPr/>
          <p:nvPr/>
        </p:nvSpPr>
        <p:spPr>
          <a:xfrm>
            <a:off x="3657600" y="3182112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 ADR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3438144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aidoc-create-adr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0" y="3621024"/>
            <a:ext cx="1965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记录关键架构决策及理由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0" y="3108960"/>
            <a:ext cx="2240280" cy="7772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1" name="Shape 19"/>
          <p:cNvSpPr/>
          <p:nvPr/>
        </p:nvSpPr>
        <p:spPr>
          <a:xfrm>
            <a:off x="5943600" y="3108960"/>
            <a:ext cx="45720" cy="777240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22" name="Text 20"/>
          <p:cNvSpPr/>
          <p:nvPr/>
        </p:nvSpPr>
        <p:spPr>
          <a:xfrm>
            <a:off x="6080760" y="3182112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记录学习经验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80760" y="3438144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aidoc-learning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80760" y="3621024"/>
            <a:ext cx="1965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捕获错误/纠正/最佳实践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EA5E9">
              <a:alpha val="15000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个技能  ·  7 个阶段  ·  5 层知识架构  ·  1 套完整的 AI 文档化方案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C4899"/>
          </a:solidFill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Phase 6: aidoc-build-knowledge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知识库深度构建 — 基于 C4 模型 + Mermaid + ADR 的研究驱动方案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0" y="182880"/>
            <a:ext cx="777240" cy="777240"/>
          </a:xfrm>
          <a:prstGeom prst="rect">
            <a:avLst/>
          </a:prstGeom>
          <a:solidFill>
            <a:srgbClr val="EC4899">
              <a:alpha val="12000"/>
            </a:srgbClr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7432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18872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20+ 来源深度调研（2025-2026），采用业界最佳实践三件套：C4 模型做四层递进架构图、Mermaid 做 Diagram-as-Code 版本控制、MADR 格式 ADR 做决策记录。双轴组织：地图（modules/）+ 路线（flows/），双向超链接关联。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2697480" cy="5943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9" name="Shape 6"/>
          <p:cNvSpPr/>
          <p:nvPr/>
        </p:nvSpPr>
        <p:spPr>
          <a:xfrm>
            <a:off x="640080" y="1691640"/>
            <a:ext cx="45720" cy="594360"/>
          </a:xfrm>
          <a:prstGeom prst="rect">
            <a:avLst/>
          </a:prstGeom>
          <a:solidFill>
            <a:srgbClr val="EC4899"/>
          </a:solidFill>
        </p:spPr>
      </p:sp>
      <p:sp>
        <p:nvSpPr>
          <p:cNvPr id="10" name="Text 7"/>
          <p:cNvSpPr/>
          <p:nvPr/>
        </p:nvSpPr>
        <p:spPr>
          <a:xfrm>
            <a:off x="777240" y="174650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递进模型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198424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四层递进（Context → Container → Component → Code），完美覆盖架构图 + 模块内部架构 + 流程图需求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93008" y="1691640"/>
            <a:ext cx="2697480" cy="5943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3" name="Shape 10"/>
          <p:cNvSpPr/>
          <p:nvPr/>
        </p:nvSpPr>
        <p:spPr>
          <a:xfrm>
            <a:off x="3493008" y="1691640"/>
            <a:ext cx="45720" cy="594360"/>
          </a:xfrm>
          <a:prstGeom prst="rect">
            <a:avLst/>
          </a:prstGeom>
          <a:solidFill>
            <a:srgbClr val="EC4899"/>
          </a:solidFill>
        </p:spPr>
      </p:sp>
      <p:sp>
        <p:nvSpPr>
          <p:cNvPr id="14" name="Text 11"/>
          <p:cNvSpPr/>
          <p:nvPr/>
        </p:nvSpPr>
        <p:spPr>
          <a:xfrm>
            <a:off x="3630168" y="174650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 Diagram-as-Code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30168" y="198424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GitHub/GitLab 原生渲染，零配置，Markdown 嵌入，LLM 生成友好度最优，秒级上手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345936" y="1691640"/>
            <a:ext cx="2697480" cy="5943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7" name="Shape 14"/>
          <p:cNvSpPr/>
          <p:nvPr/>
        </p:nvSpPr>
        <p:spPr>
          <a:xfrm>
            <a:off x="6345936" y="1691640"/>
            <a:ext cx="45720" cy="594360"/>
          </a:xfrm>
          <a:prstGeom prst="rect">
            <a:avLst/>
          </a:prstGeom>
          <a:solidFill>
            <a:srgbClr val="EC4899"/>
          </a:solidFill>
        </p:spPr>
      </p:sp>
      <p:sp>
        <p:nvSpPr>
          <p:cNvPr id="18" name="Text 15"/>
          <p:cNvSpPr/>
          <p:nvPr/>
        </p:nvSpPr>
        <p:spPr>
          <a:xfrm>
            <a:off x="6483096" y="174650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地图 + 路线双轴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83096" y="198424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modules/ 承载模块蓝图（C4 Component），flows/ 承载流程蓝图（Mermaid 时序图），双向超链接导航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751076" y="2395728"/>
            <a:ext cx="2697480" cy="5943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1" name="Shape 18"/>
          <p:cNvSpPr/>
          <p:nvPr/>
        </p:nvSpPr>
        <p:spPr>
          <a:xfrm>
            <a:off x="1751076" y="2395728"/>
            <a:ext cx="45720" cy="594360"/>
          </a:xfrm>
          <a:prstGeom prst="rect">
            <a:avLst/>
          </a:prstGeom>
          <a:solidFill>
            <a:srgbClr val="EC4899"/>
          </a:solidFill>
        </p:spPr>
      </p:sp>
      <p:sp>
        <p:nvSpPr>
          <p:cNvPr id="22" name="Text 19"/>
          <p:cNvSpPr/>
          <p:nvPr/>
        </p:nvSpPr>
        <p:spPr>
          <a:xfrm>
            <a:off x="1888236" y="24505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 格式 ADR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888236" y="268833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POS/NEG/ALT/IMP/REF 前缀编码，YAML frontmatter，AI 可程序化检索决策，状态追踪生命周期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604004" y="2395728"/>
            <a:ext cx="2697480" cy="59436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5" name="Shape 22"/>
          <p:cNvSpPr/>
          <p:nvPr/>
        </p:nvSpPr>
        <p:spPr>
          <a:xfrm>
            <a:off x="4604004" y="2395728"/>
            <a:ext cx="45720" cy="594360"/>
          </a:xfrm>
          <a:prstGeom prst="rect">
            <a:avLst/>
          </a:prstGeom>
          <a:solidFill>
            <a:srgbClr val="EC4899"/>
          </a:solidFill>
        </p:spPr>
      </p:sp>
      <p:sp>
        <p:nvSpPr>
          <p:cNvPr id="26" name="Text 23"/>
          <p:cNvSpPr/>
          <p:nvPr/>
        </p:nvSpPr>
        <p:spPr>
          <a:xfrm>
            <a:off x="4741164" y="24505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研究驱动设计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741164" y="268833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来源深度调研，8 次 WebSearch + 4 次深度阅读，对标 arc42/LikeC4/Structurizr 等前沿工具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40080" y="4297680"/>
            <a:ext cx="7772400" cy="41148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9" name="Text 26"/>
          <p:cNvSpPr/>
          <p:nvPr/>
        </p:nvSpPr>
        <p:spPr>
          <a:xfrm>
            <a:off x="777240" y="4297680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docs/knowledge/  |  AGENTS.md + system-context + container-architecture + modules/ ×5 + flows/ ×5 + decisions/ ×3 + crosscutting/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5422</Words>
  <Application>WPS 演示</Application>
  <PresentationFormat>On-screen Show (16:9)</PresentationFormat>
  <Paragraphs>554</Paragraphs>
  <Slides>15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42" baseType="lpstr">
      <vt:lpstr>Arial</vt:lpstr>
      <vt:lpstr>宋体</vt:lpstr>
      <vt:lpstr>Wingdings</vt:lpstr>
      <vt:lpstr>Arial Black</vt:lpstr>
      <vt:lpstr>Arial Black</vt:lpstr>
      <vt:lpstr>Arial Black</vt:lpstr>
      <vt:lpstr>Georgia</vt:lpstr>
      <vt:lpstr>Georgia</vt:lpstr>
      <vt:lpstr>Georgia</vt:lpstr>
      <vt:lpstr>Calibri</vt:lpstr>
      <vt:lpstr>Helvetica Neue</vt:lpstr>
      <vt:lpstr>Calibri</vt:lpstr>
      <vt:lpstr>Calibri</vt:lpstr>
      <vt:lpstr>Consolas</vt:lpstr>
      <vt:lpstr>Consolas</vt:lpstr>
      <vt:lpstr>Consolas</vt:lpstr>
      <vt:lpstr>宋体</vt:lpstr>
      <vt:lpstr>汉仪书宋二KW</vt:lpstr>
      <vt:lpstr>微软雅黑</vt:lpstr>
      <vt:lpstr>汉仪旗黑</vt:lpstr>
      <vt:lpstr>Arial Unicode MS</vt:lpstr>
      <vt:lpstr>等线</vt:lpstr>
      <vt:lpstr>汉仪中等线KW</vt:lpstr>
      <vt:lpstr>苹方-简</vt:lpstr>
      <vt:lpstr>儷宋 Pro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aidoc 智能文档体系</dc:title>
  <dc:creator>aidoc</dc:creator>
  <dc:subject>PptxGenJS Presentation</dc:subject>
  <cp:lastModifiedBy>subzero</cp:lastModifiedBy>
  <cp:revision>2</cp:revision>
  <dcterms:created xsi:type="dcterms:W3CDTF">2026-05-31T18:00:17Z</dcterms:created>
  <dcterms:modified xsi:type="dcterms:W3CDTF">2026-05-31T18:00:17Z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FF258DD8ED68029E31771C6A51BA2102_42</vt:lpwstr>
  </property>
  <property fmtid="{D5CDD505-2E9C-101B-9397-08002B2CF9AE}" pid="3" name="KSOProductBuildVer">
    <vt:lpwstr>2052-12.1.25895.25895</vt:lpwstr>
  </property>
</Properties>
</file>